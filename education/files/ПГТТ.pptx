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 SemiBold"/>
      <p:regular r:id="rId10"/>
      <p:bold r:id="rId11"/>
      <p:italic r:id="rId12"/>
      <p:boldItalic r:id="rId13"/>
    </p:embeddedFont>
    <p:embeddedFont>
      <p:font typeface="Roboto Medium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Montserrat Black"/>
      <p:bold r:id="rId22"/>
      <p:boldItalic r:id="rId23"/>
    </p:embeddedFont>
    <p:embeddedFont>
      <p:font typeface="Montserrat Medium"/>
      <p:regular r:id="rId24"/>
      <p:bold r:id="rId25"/>
      <p:italic r:id="rId26"/>
      <p:boldItalic r:id="rId27"/>
    </p:embeddedFont>
    <p:embeddedFont>
      <p:font typeface="Montserrat ExtraBold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MontserratBlack-bold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MontserratMedium-regular.fntdata"/><Relationship Id="rId23" Type="http://schemas.openxmlformats.org/officeDocument/2006/relationships/font" Target="fonts/MontserratBlack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italic.fntdata"/><Relationship Id="rId25" Type="http://schemas.openxmlformats.org/officeDocument/2006/relationships/font" Target="fonts/MontserratMedium-bold.fntdata"/><Relationship Id="rId28" Type="http://schemas.openxmlformats.org/officeDocument/2006/relationships/font" Target="fonts/MontserratExtraBold-bold.fntdata"/><Relationship Id="rId27" Type="http://schemas.openxmlformats.org/officeDocument/2006/relationships/font" Target="fonts/Montserrat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MontserratSemiBold-bold.fntdata"/><Relationship Id="rId10" Type="http://schemas.openxmlformats.org/officeDocument/2006/relationships/font" Target="fonts/MontserratSemiBold-regular.fntdata"/><Relationship Id="rId13" Type="http://schemas.openxmlformats.org/officeDocument/2006/relationships/font" Target="fonts/MontserratSemiBold-boldItalic.fntdata"/><Relationship Id="rId12" Type="http://schemas.openxmlformats.org/officeDocument/2006/relationships/font" Target="fonts/MontserratSemiBold-italic.fntdata"/><Relationship Id="rId15" Type="http://schemas.openxmlformats.org/officeDocument/2006/relationships/font" Target="fonts/RobotoMedium-bold.fntdata"/><Relationship Id="rId14" Type="http://schemas.openxmlformats.org/officeDocument/2006/relationships/font" Target="fonts/RobotoMedium-regular.fntdata"/><Relationship Id="rId17" Type="http://schemas.openxmlformats.org/officeDocument/2006/relationships/font" Target="fonts/RobotoMedium-boldItalic.fntdata"/><Relationship Id="rId16" Type="http://schemas.openxmlformats.org/officeDocument/2006/relationships/font" Target="fonts/RobotoMedium-italic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580295a83_0_2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f580295a83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580295a83_0_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f580295a8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580295a8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f580295a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580295a83_0_1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f580295a83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14500"/>
            <a:ext cx="9144000" cy="51579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4089" r="25770" t="5749"/>
          <a:stretch/>
        </p:blipFill>
        <p:spPr>
          <a:xfrm>
            <a:off x="1201400" y="-14500"/>
            <a:ext cx="7942600" cy="515790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 rot="5400000">
            <a:off x="1875350" y="-688289"/>
            <a:ext cx="5168400" cy="6516300"/>
          </a:xfrm>
          <a:prstGeom prst="rect">
            <a:avLst/>
          </a:prstGeom>
          <a:gradFill>
            <a:gsLst>
              <a:gs pos="0">
                <a:srgbClr val="073763">
                  <a:alpha val="0"/>
                </a:srgbClr>
              </a:gs>
              <a:gs pos="30000">
                <a:srgbClr val="073763">
                  <a:alpha val="54510"/>
                </a:srgbClr>
              </a:gs>
              <a:gs pos="67000">
                <a:srgbClr val="073763">
                  <a:alpha val="78431"/>
                </a:srgbClr>
              </a:gs>
              <a:gs pos="100000">
                <a:srgbClr val="073763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-769625" y="3116350"/>
            <a:ext cx="8327400" cy="1566000"/>
          </a:xfrm>
          <a:prstGeom prst="parallelogram">
            <a:avLst>
              <a:gd fmla="val 32879" name="adj"/>
            </a:avLst>
          </a:prstGeom>
          <a:solidFill>
            <a:srgbClr val="EFEFEF">
              <a:alpha val="866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59757" y="3168533"/>
            <a:ext cx="73713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400">
                <a:solidFill>
                  <a:srgbClr val="073763"/>
                </a:solidFill>
                <a:latin typeface="Montserrat"/>
                <a:ea typeface="Montserrat"/>
                <a:cs typeface="Montserrat"/>
                <a:sym typeface="Montserrat"/>
              </a:rPr>
              <a:t>Проведение глюкозотолерантного теста</a:t>
            </a:r>
            <a:endParaRPr sz="3400">
              <a:solidFill>
                <a:srgbClr val="07376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-261775" y="2891506"/>
            <a:ext cx="2415900" cy="302700"/>
          </a:xfrm>
          <a:prstGeom prst="parallelogram">
            <a:avLst>
              <a:gd fmla="val 32879" name="adj"/>
            </a:avLst>
          </a:prstGeom>
          <a:gradFill>
            <a:gsLst>
              <a:gs pos="0">
                <a:srgbClr val="9C0006"/>
              </a:gs>
              <a:gs pos="100000">
                <a:srgbClr val="EF2F00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5628782" y="4532250"/>
            <a:ext cx="2214300" cy="358800"/>
          </a:xfrm>
          <a:prstGeom prst="parallelogram">
            <a:avLst>
              <a:gd fmla="val 32879" name="adj"/>
            </a:avLst>
          </a:prstGeom>
          <a:gradFill>
            <a:gsLst>
              <a:gs pos="0">
                <a:srgbClr val="0B5394"/>
              </a:gs>
              <a:gs pos="100000">
                <a:srgbClr val="3D85C6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6151754" y="4554088"/>
            <a:ext cx="18477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21</a:t>
            </a:r>
            <a:r>
              <a:rPr b="1" i="0" lang="ru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.0</a:t>
            </a:r>
            <a:r>
              <a:rPr b="1"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b="1" i="0" lang="ru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.2026</a:t>
            </a:r>
            <a:endParaRPr b="1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" name="Google Shape;62;p13" title="лого МЗ вектор ai_Монтажная область 1.png"/>
          <p:cNvPicPr preferRelativeResize="0"/>
          <p:nvPr/>
        </p:nvPicPr>
        <p:blipFill rotWithShape="1">
          <a:blip r:embed="rId4">
            <a:alphaModFix/>
          </a:blip>
          <a:srcRect b="23821" l="0" r="0" t="23826"/>
          <a:stretch/>
        </p:blipFill>
        <p:spPr>
          <a:xfrm>
            <a:off x="-15375" y="274174"/>
            <a:ext cx="2415898" cy="7114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13"/>
          <p:cNvGrpSpPr/>
          <p:nvPr/>
        </p:nvGrpSpPr>
        <p:grpSpPr>
          <a:xfrm>
            <a:off x="346200" y="1186432"/>
            <a:ext cx="1664709" cy="596475"/>
            <a:chOff x="270000" y="1026199"/>
            <a:chExt cx="1664709" cy="596475"/>
          </a:xfrm>
        </p:grpSpPr>
        <p:pic>
          <p:nvPicPr>
            <p:cNvPr id="64" name="Google Shape;64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70000" y="1026199"/>
              <a:ext cx="1664709" cy="596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3"/>
            <p:cNvSpPr/>
            <p:nvPr/>
          </p:nvSpPr>
          <p:spPr>
            <a:xfrm>
              <a:off x="281050" y="1029975"/>
              <a:ext cx="224700" cy="206100"/>
            </a:xfrm>
            <a:prstGeom prst="heart">
              <a:avLst/>
            </a:prstGeom>
            <a:solidFill>
              <a:srgbClr val="E0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3"/>
          <p:cNvSpPr/>
          <p:nvPr/>
        </p:nvSpPr>
        <p:spPr>
          <a:xfrm>
            <a:off x="-1600737" y="818350"/>
            <a:ext cx="583500" cy="5835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-1600737" y="1581167"/>
            <a:ext cx="583500" cy="58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-1600737" y="2343983"/>
            <a:ext cx="583500" cy="583500"/>
          </a:xfrm>
          <a:prstGeom prst="rect">
            <a:avLst/>
          </a:prstGeom>
          <a:gradFill>
            <a:gsLst>
              <a:gs pos="0">
                <a:srgbClr val="9C0006"/>
              </a:gs>
              <a:gs pos="100000">
                <a:srgbClr val="EF2F00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-1600737" y="3106800"/>
            <a:ext cx="583500" cy="583500"/>
          </a:xfrm>
          <a:prstGeom prst="rect">
            <a:avLst/>
          </a:prstGeom>
          <a:gradFill>
            <a:gsLst>
              <a:gs pos="0">
                <a:srgbClr val="0B5394"/>
              </a:gs>
              <a:gs pos="100000">
                <a:srgbClr val="3D85C6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70" name="Google Shape;7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349" y="1850887"/>
            <a:ext cx="1296826" cy="972624"/>
          </a:xfrm>
          <a:prstGeom prst="rect">
            <a:avLst/>
          </a:prstGeom>
          <a:gradFill>
            <a:gsLst>
              <a:gs pos="0">
                <a:srgbClr val="073763">
                  <a:alpha val="0"/>
                </a:srgbClr>
              </a:gs>
              <a:gs pos="30000">
                <a:srgbClr val="073763">
                  <a:alpha val="54510"/>
                </a:srgbClr>
              </a:gs>
              <a:gs pos="67000">
                <a:srgbClr val="073763">
                  <a:alpha val="78431"/>
                </a:srgbClr>
              </a:gs>
              <a:gs pos="100000">
                <a:srgbClr val="073763"/>
              </a:gs>
            </a:gsLst>
            <a:lin ang="5400012" scaled="0"/>
          </a:gradFill>
          <a:ln>
            <a:noFill/>
          </a:ln>
        </p:spPr>
      </p:pic>
      <p:sp>
        <p:nvSpPr>
          <p:cNvPr id="71" name="Google Shape;71;p13"/>
          <p:cNvSpPr txBox="1"/>
          <p:nvPr/>
        </p:nvSpPr>
        <p:spPr>
          <a:xfrm>
            <a:off x="1144000" y="2017500"/>
            <a:ext cx="17079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РЕФЕРЕНС-ЦЕНТР ЛАБОРАТОРНОЙ СЛУЖБЫ МОСКОВСКОЙ ОБЛАСТИ</a:t>
            </a:r>
            <a:endParaRPr b="0" i="0" sz="4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58275" y="3323350"/>
            <a:ext cx="8816700" cy="1732200"/>
          </a:xfrm>
          <a:prstGeom prst="roundRect">
            <a:avLst>
              <a:gd fmla="val 5411" name="adj"/>
            </a:avLst>
          </a:prstGeom>
          <a:solidFill>
            <a:srgbClr val="EFEFEF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3434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58275" y="2002663"/>
            <a:ext cx="8816700" cy="1048200"/>
          </a:xfrm>
          <a:prstGeom prst="roundRect">
            <a:avLst>
              <a:gd fmla="val 5411" name="adj"/>
            </a:avLst>
          </a:prstGeom>
          <a:solidFill>
            <a:srgbClr val="EFEFEF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3434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109475" y="682000"/>
            <a:ext cx="8816700" cy="1048200"/>
          </a:xfrm>
          <a:prstGeom prst="roundRect">
            <a:avLst>
              <a:gd fmla="val 5411" name="adj"/>
            </a:avLst>
          </a:prstGeom>
          <a:solidFill>
            <a:srgbClr val="EFEFEF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3434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0" y="48825"/>
            <a:ext cx="9144000" cy="3333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58275" y="-75"/>
            <a:ext cx="8771400" cy="431100"/>
          </a:xfrm>
          <a:prstGeom prst="parallelogram">
            <a:avLst>
              <a:gd fmla="val 32879" name="adj"/>
            </a:avLst>
          </a:prstGeom>
          <a:solidFill>
            <a:srgbClr val="EFEFEF"/>
          </a:solidFill>
          <a:ln>
            <a:noFill/>
          </a:ln>
          <a:effectLst>
            <a:outerShdw blurRad="71438" rotWithShape="0" algn="bl" dir="54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306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       </a:t>
            </a:r>
            <a:r>
              <a:rPr lang="ru" sz="1300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  Проведение глюкозотолерантного теста</a:t>
            </a:r>
            <a:br>
              <a:rPr lang="ru" sz="1100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lang="ru" sz="1100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           </a:t>
            </a:r>
            <a:r>
              <a:rPr lang="ru" sz="1100">
                <a:solidFill>
                  <a:srgbClr val="99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особенности назначения и выполнения</a:t>
            </a:r>
            <a:endParaRPr b="0" i="0" sz="1100" u="none" cap="none" strike="noStrike">
              <a:solidFill>
                <a:srgbClr val="990000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81" name="Google Shape;81;p14" title="ЛОГО-МЗ-МО-НОВЫЙ.png"/>
          <p:cNvPicPr preferRelativeResize="0"/>
          <p:nvPr/>
        </p:nvPicPr>
        <p:blipFill rotWithShape="1">
          <a:blip r:embed="rId3">
            <a:alphaModFix/>
          </a:blip>
          <a:srcRect b="0" l="19677" r="19683" t="0"/>
          <a:stretch/>
        </p:blipFill>
        <p:spPr>
          <a:xfrm>
            <a:off x="426150" y="48825"/>
            <a:ext cx="275190" cy="3333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8778321" y="78525"/>
            <a:ext cx="336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83" name="Google Shape;83;p14"/>
          <p:cNvPicPr preferRelativeResize="0"/>
          <p:nvPr/>
        </p:nvPicPr>
        <p:blipFill rotWithShape="1">
          <a:blip r:embed="rId4">
            <a:alphaModFix/>
          </a:blip>
          <a:srcRect b="0" l="0" r="63786" t="0"/>
          <a:stretch/>
        </p:blipFill>
        <p:spPr>
          <a:xfrm>
            <a:off x="748450" y="48800"/>
            <a:ext cx="336899" cy="3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 txBox="1"/>
          <p:nvPr/>
        </p:nvSpPr>
        <p:spPr>
          <a:xfrm>
            <a:off x="8778321" y="78530"/>
            <a:ext cx="336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ru" sz="10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‹#›</a:t>
            </a:fld>
            <a:endParaRPr b="0" i="0" sz="10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-1600737" y="818350"/>
            <a:ext cx="583500" cy="5835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-1600737" y="1581167"/>
            <a:ext cx="583500" cy="58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-1600737" y="2343983"/>
            <a:ext cx="583500" cy="583500"/>
          </a:xfrm>
          <a:prstGeom prst="rect">
            <a:avLst/>
          </a:prstGeom>
          <a:gradFill>
            <a:gsLst>
              <a:gs pos="0">
                <a:srgbClr val="9C0006"/>
              </a:gs>
              <a:gs pos="100000">
                <a:srgbClr val="EF2F00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-1600737" y="3106800"/>
            <a:ext cx="583500" cy="583500"/>
          </a:xfrm>
          <a:prstGeom prst="rect">
            <a:avLst/>
          </a:prstGeom>
          <a:gradFill>
            <a:gsLst>
              <a:gs pos="0">
                <a:srgbClr val="0B5394"/>
              </a:gs>
              <a:gs pos="100000">
                <a:srgbClr val="3D85C6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3400" y="-26575"/>
            <a:ext cx="645459" cy="48409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/>
          <p:nvPr/>
        </p:nvSpPr>
        <p:spPr>
          <a:xfrm>
            <a:off x="2745375" y="2040700"/>
            <a:ext cx="2831400" cy="972000"/>
          </a:xfrm>
          <a:prstGeom prst="roundRect">
            <a:avLst>
              <a:gd fmla="val 5520" name="adj"/>
            </a:avLst>
          </a:prstGeom>
          <a:solidFill>
            <a:srgbClr val="F3F3F3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A12.22.005</a:t>
            </a:r>
            <a:br>
              <a:rPr lang="ru" sz="1100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lang="ru" sz="1000" u="sng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Небеременные</a:t>
            </a:r>
            <a:r>
              <a:rPr lang="ru" sz="1100" u="sng">
                <a:solidFill>
                  <a:schemeClr val="dk1"/>
                </a:solidFill>
              </a:rPr>
              <a:t> </a:t>
            </a:r>
            <a:endParaRPr sz="1100" u="sng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(диагностика нарушений углеводного обмена)</a:t>
            </a:r>
            <a:r>
              <a:rPr lang="ru" sz="1000">
                <a:latin typeface="Montserrat ExtraBold"/>
                <a:ea typeface="Montserrat ExtraBold"/>
                <a:cs typeface="Montserrat ExtraBold"/>
                <a:sym typeface="Montserrat ExtraBold"/>
              </a:rPr>
              <a:t>  </a:t>
            </a:r>
            <a:br>
              <a:rPr lang="ru" sz="1100">
                <a:solidFill>
                  <a:schemeClr val="dk1"/>
                </a:solidFill>
              </a:rPr>
            </a:br>
            <a:r>
              <a:rPr lang="ru" sz="1000">
                <a:latin typeface="Montserrat ExtraBold"/>
                <a:ea typeface="Montserrat ExtraBold"/>
                <a:cs typeface="Montserrat ExtraBold"/>
                <a:sym typeface="Montserrat ExtraBold"/>
              </a:rPr>
              <a:t>2 определения уровня глюкозы</a:t>
            </a:r>
            <a:r>
              <a:rPr lang="ru" sz="1000">
                <a:latin typeface="Montserrat"/>
                <a:ea typeface="Montserrat"/>
                <a:cs typeface="Montserrat"/>
                <a:sym typeface="Montserrat"/>
              </a:rPr>
              <a:t> в венозной крови: натощак и через 2 часа после углеводной нагрузки </a:t>
            </a:r>
            <a:endParaRPr sz="10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5832375" y="2040775"/>
            <a:ext cx="2831400" cy="972000"/>
          </a:xfrm>
          <a:prstGeom prst="roundRect">
            <a:avLst>
              <a:gd fmla="val 5520" name="adj"/>
            </a:avLst>
          </a:prstGeom>
          <a:solidFill>
            <a:srgbClr val="F3F3F3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A12.22.005.001 </a:t>
            </a:r>
            <a:br>
              <a:rPr lang="ru" sz="1100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lang="ru" sz="1000" u="sng">
                <a:latin typeface="Montserrat ExtraBold"/>
                <a:ea typeface="Montserrat ExtraBold"/>
                <a:cs typeface="Montserrat ExtraBold"/>
                <a:sym typeface="Montserrat ExtraBold"/>
              </a:rPr>
              <a:t>Беременные</a:t>
            </a:r>
            <a:r>
              <a:rPr lang="ru" sz="1000">
                <a:latin typeface="Montserrat ExtraBold"/>
                <a:ea typeface="Montserrat ExtraBold"/>
                <a:cs typeface="Montserrat ExtraBold"/>
                <a:sym typeface="Montserrat ExtraBold"/>
              </a:rPr>
              <a:t> 24-28 недель </a:t>
            </a:r>
            <a:r>
              <a:rPr lang="ru" sz="800"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ru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Скрининг гестационного сахарного диабета)</a:t>
            </a:r>
            <a:br>
              <a:rPr lang="ru" sz="1000"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" sz="1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 определения уровня глюкозы</a:t>
            </a:r>
            <a:r>
              <a:rPr lang="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в венозной крови: натощак, через 1 и 2 часа после углеводной нагрузки </a:t>
            </a:r>
            <a:endParaRPr sz="10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2604725" y="767638"/>
            <a:ext cx="5904300" cy="876900"/>
          </a:xfrm>
          <a:prstGeom prst="roundRect">
            <a:avLst>
              <a:gd fmla="val 5520" name="adj"/>
            </a:avLst>
          </a:prstGeom>
          <a:solidFill>
            <a:srgbClr val="D9EAD3"/>
          </a:solidFill>
          <a:ln cap="flat" cmpd="sng" w="9525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A12.22.005 </a:t>
            </a:r>
            <a:r>
              <a:rPr lang="ru" sz="1100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r>
              <a:rPr lang="ru" sz="1100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Глюкозотолерантный тест (2 пробы)</a:t>
            </a:r>
            <a:r>
              <a:rPr lang="ru" sz="1100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”</a:t>
            </a:r>
            <a:br>
              <a:rPr lang="ru" sz="1100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lang="ru" sz="1100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A12.22.005.001 “Глюкозотолерантный тест (3 пробы, для беременных)”</a:t>
            </a:r>
            <a:endParaRPr sz="1000">
              <a:solidFill>
                <a:srgbClr val="3876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16775" y="767650"/>
            <a:ext cx="1315800" cy="876900"/>
          </a:xfrm>
          <a:prstGeom prst="roundRect">
            <a:avLst>
              <a:gd fmla="val 5411" name="adj"/>
            </a:avLst>
          </a:prstGeom>
          <a:solidFill>
            <a:srgbClr val="CFE2F3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1C458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Выбор кода лабораторного исследования</a:t>
            </a:r>
            <a:endParaRPr sz="1000">
              <a:solidFill>
                <a:srgbClr val="1C4587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169313" y="2088325"/>
            <a:ext cx="1315800" cy="876900"/>
          </a:xfrm>
          <a:prstGeom prst="roundRect">
            <a:avLst>
              <a:gd fmla="val 5411" name="adj"/>
            </a:avLst>
          </a:prstGeom>
          <a:solidFill>
            <a:srgbClr val="CFE2F3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1C458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Формат взятия биоматериала</a:t>
            </a:r>
            <a:endParaRPr sz="1000">
              <a:solidFill>
                <a:srgbClr val="1C4587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169300" y="3657725"/>
            <a:ext cx="1315800" cy="876900"/>
          </a:xfrm>
          <a:prstGeom prst="roundRect">
            <a:avLst>
              <a:gd fmla="val 5411" name="adj"/>
            </a:avLst>
          </a:prstGeom>
          <a:solidFill>
            <a:srgbClr val="CFE2F3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1C458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Возможные форматы выдачи результатов исследования</a:t>
            </a:r>
            <a:endParaRPr sz="1000">
              <a:solidFill>
                <a:srgbClr val="1C4587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1425" y="3931463"/>
            <a:ext cx="2111741" cy="6053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" name="Google Shape;97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31425" y="3381043"/>
            <a:ext cx="2111750" cy="478007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</p:pic>
      <p:pic>
        <p:nvPicPr>
          <p:cNvPr id="98" name="Google Shape;98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31425" y="4609224"/>
            <a:ext cx="2111750" cy="358998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</p:pic>
      <p:sp>
        <p:nvSpPr>
          <p:cNvPr id="99" name="Google Shape;99;p14"/>
          <p:cNvSpPr/>
          <p:nvPr/>
        </p:nvSpPr>
        <p:spPr>
          <a:xfrm>
            <a:off x="2745375" y="4408575"/>
            <a:ext cx="3124200" cy="605400"/>
          </a:xfrm>
          <a:prstGeom prst="roundRect">
            <a:avLst>
              <a:gd fmla="val 5520" name="adj"/>
            </a:avLst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Если в КДЛ настроена оперативная передача результата по пробе взятой натощак, при уровне глюкозы натощак выше установленного порога: </a:t>
            </a:r>
            <a:r>
              <a:rPr lang="ru" sz="800">
                <a:solidFill>
                  <a:srgbClr val="38761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углеводная нагрузка не проводится, результат выдаётся только по 1-й пробе </a:t>
            </a:r>
            <a:endParaRPr sz="800">
              <a:solidFill>
                <a:srgbClr val="38761D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2745375" y="3465213"/>
            <a:ext cx="3124200" cy="333300"/>
          </a:xfrm>
          <a:prstGeom prst="roundRect">
            <a:avLst>
              <a:gd fmla="val 5520" name="adj"/>
            </a:avLst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8761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Для небеременных</a:t>
            </a:r>
            <a:endParaRPr sz="1000">
              <a:solidFill>
                <a:srgbClr val="38761D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2745375" y="3936888"/>
            <a:ext cx="3124200" cy="333300"/>
          </a:xfrm>
          <a:prstGeom prst="roundRect">
            <a:avLst>
              <a:gd fmla="val 5520" name="adj"/>
            </a:avLst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8761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Для беременных</a:t>
            </a:r>
            <a:endParaRPr sz="1000">
              <a:solidFill>
                <a:srgbClr val="38761D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1688850" y="990545"/>
            <a:ext cx="336900" cy="431100"/>
          </a:xfrm>
          <a:prstGeom prst="chevron">
            <a:avLst>
              <a:gd fmla="val 50000" name="adj"/>
            </a:avLst>
          </a:prstGeom>
          <a:solidFill>
            <a:srgbClr val="EEEEEE"/>
          </a:solidFill>
          <a:ln cap="flat" cmpd="sng" w="9525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688850" y="2356207"/>
            <a:ext cx="336900" cy="431100"/>
          </a:xfrm>
          <a:prstGeom prst="chevron">
            <a:avLst>
              <a:gd fmla="val 50000" name="adj"/>
            </a:avLst>
          </a:prstGeom>
          <a:solidFill>
            <a:srgbClr val="EEEEEE"/>
          </a:solidFill>
          <a:ln cap="flat" cmpd="sng" w="9525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1659575" y="3922720"/>
            <a:ext cx="336900" cy="431100"/>
          </a:xfrm>
          <a:prstGeom prst="chevron">
            <a:avLst>
              <a:gd fmla="val 50000" name="adj"/>
            </a:avLst>
          </a:prstGeom>
          <a:solidFill>
            <a:srgbClr val="EEEEEE"/>
          </a:solidFill>
          <a:ln cap="flat" cmpd="sng" w="9525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974363" y="3570584"/>
            <a:ext cx="184500" cy="165600"/>
          </a:xfrm>
          <a:prstGeom prst="chevron">
            <a:avLst>
              <a:gd fmla="val 50000" name="adj"/>
            </a:avLst>
          </a:prstGeom>
          <a:solidFill>
            <a:srgbClr val="EEEEEE"/>
          </a:solidFill>
          <a:ln cap="flat" cmpd="sng" w="9525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974375" y="4055472"/>
            <a:ext cx="184500" cy="165600"/>
          </a:xfrm>
          <a:prstGeom prst="chevron">
            <a:avLst>
              <a:gd fmla="val 50000" name="adj"/>
            </a:avLst>
          </a:prstGeom>
          <a:solidFill>
            <a:srgbClr val="EEEEEE"/>
          </a:solidFill>
          <a:ln cap="flat" cmpd="sng" w="9525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974363" y="4705922"/>
            <a:ext cx="184500" cy="165600"/>
          </a:xfrm>
          <a:prstGeom prst="chevron">
            <a:avLst>
              <a:gd fmla="val 50000" name="adj"/>
            </a:avLst>
          </a:prstGeom>
          <a:solidFill>
            <a:srgbClr val="EEEEEE"/>
          </a:solidFill>
          <a:ln cap="flat" cmpd="sng" w="9525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1900200" y="990545"/>
            <a:ext cx="336900" cy="431100"/>
          </a:xfrm>
          <a:prstGeom prst="chevron">
            <a:avLst>
              <a:gd fmla="val 50000" name="adj"/>
            </a:avLst>
          </a:prstGeom>
          <a:solidFill>
            <a:srgbClr val="EEEEEE"/>
          </a:solidFill>
          <a:ln cap="flat" cmpd="sng" w="9525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1909925" y="2356195"/>
            <a:ext cx="336900" cy="431100"/>
          </a:xfrm>
          <a:prstGeom prst="chevron">
            <a:avLst>
              <a:gd fmla="val 50000" name="adj"/>
            </a:avLst>
          </a:prstGeom>
          <a:solidFill>
            <a:srgbClr val="EEEEEE"/>
          </a:solidFill>
          <a:ln cap="flat" cmpd="sng" w="9525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1864150" y="3922720"/>
            <a:ext cx="336900" cy="431100"/>
          </a:xfrm>
          <a:prstGeom prst="chevron">
            <a:avLst>
              <a:gd fmla="val 50000" name="adj"/>
            </a:avLst>
          </a:prstGeom>
          <a:solidFill>
            <a:srgbClr val="EEEEEE"/>
          </a:solidFill>
          <a:ln cap="flat" cmpd="sng" w="9525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89575" y="417050"/>
            <a:ext cx="8961000" cy="4682700"/>
          </a:xfrm>
          <a:prstGeom prst="roundRect">
            <a:avLst>
              <a:gd fmla="val 5411" name="adj"/>
            </a:avLst>
          </a:prstGeom>
          <a:solidFill>
            <a:srgbClr val="F8FEFF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C4587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0" y="48825"/>
            <a:ext cx="9144000" cy="3333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8275" y="-75"/>
            <a:ext cx="8771400" cy="373800"/>
          </a:xfrm>
          <a:prstGeom prst="parallelogram">
            <a:avLst>
              <a:gd fmla="val 32879" name="adj"/>
            </a:avLst>
          </a:prstGeom>
          <a:solidFill>
            <a:srgbClr val="EFEFEF"/>
          </a:solidFill>
          <a:ln>
            <a:noFill/>
          </a:ln>
          <a:effectLst>
            <a:outerShdw blurRad="71438" rotWithShape="0" algn="bl" dir="54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306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       </a:t>
            </a:r>
            <a:r>
              <a:rPr lang="ru" sz="1300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  Проведение глюкозотолерантного теста</a:t>
            </a:r>
            <a:br>
              <a:rPr lang="ru" sz="1100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lang="ru" sz="1100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           </a:t>
            </a:r>
            <a:r>
              <a:rPr lang="ru" sz="1100">
                <a:solidFill>
                  <a:srgbClr val="99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ПАМЯТКА для медицинских организаций</a:t>
            </a:r>
            <a:endParaRPr b="0" i="0" sz="1100" u="none" cap="none" strike="noStrike">
              <a:solidFill>
                <a:srgbClr val="990000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118" name="Google Shape;118;p15" title="ЛОГО-МЗ-МО-НОВЫЙ.png"/>
          <p:cNvPicPr preferRelativeResize="0"/>
          <p:nvPr/>
        </p:nvPicPr>
        <p:blipFill rotWithShape="1">
          <a:blip r:embed="rId3">
            <a:alphaModFix/>
          </a:blip>
          <a:srcRect b="0" l="19677" r="19683" t="0"/>
          <a:stretch/>
        </p:blipFill>
        <p:spPr>
          <a:xfrm>
            <a:off x="426150" y="48825"/>
            <a:ext cx="275190" cy="33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778321" y="78525"/>
            <a:ext cx="336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63786" t="0"/>
          <a:stretch/>
        </p:blipFill>
        <p:spPr>
          <a:xfrm>
            <a:off x="748450" y="48800"/>
            <a:ext cx="336899" cy="3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778321" y="78530"/>
            <a:ext cx="336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ru" sz="10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‹#›</a:t>
            </a:fld>
            <a:endParaRPr b="0" i="0" sz="10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-1600737" y="818350"/>
            <a:ext cx="583500" cy="5835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-1600737" y="1581167"/>
            <a:ext cx="583500" cy="58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-1600737" y="2343983"/>
            <a:ext cx="583500" cy="583500"/>
          </a:xfrm>
          <a:prstGeom prst="rect">
            <a:avLst/>
          </a:prstGeom>
          <a:gradFill>
            <a:gsLst>
              <a:gs pos="0">
                <a:srgbClr val="9C0006"/>
              </a:gs>
              <a:gs pos="100000">
                <a:srgbClr val="EF2F00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-1600737" y="3106800"/>
            <a:ext cx="583500" cy="583500"/>
          </a:xfrm>
          <a:prstGeom prst="rect">
            <a:avLst/>
          </a:prstGeom>
          <a:gradFill>
            <a:gsLst>
              <a:gs pos="0">
                <a:srgbClr val="0B5394"/>
              </a:gs>
              <a:gs pos="100000">
                <a:srgbClr val="3D85C6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3400" y="-26575"/>
            <a:ext cx="645459" cy="4840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199325" y="1543375"/>
            <a:ext cx="4287300" cy="333300"/>
          </a:xfrm>
          <a:prstGeom prst="roundRect">
            <a:avLst>
              <a:gd fmla="val 5520" name="adj"/>
            </a:avLst>
          </a:prstGeom>
          <a:solidFill>
            <a:srgbClr val="D9EAD3"/>
          </a:solidFill>
          <a:ln cap="flat" cmpd="sng" w="9525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A12.22.005 “Глюкозотолерантный тест (2 пробы) ”</a:t>
            </a:r>
            <a:endParaRPr sz="1100">
              <a:solidFill>
                <a:srgbClr val="38761D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2856300" y="482725"/>
            <a:ext cx="3431400" cy="400800"/>
          </a:xfrm>
          <a:prstGeom prst="roundRect">
            <a:avLst>
              <a:gd fmla="val 5411" name="adj"/>
            </a:avLst>
          </a:prstGeom>
          <a:solidFill>
            <a:srgbClr val="CFE2F3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1C458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Выбор лабораторного исследования</a:t>
            </a:r>
            <a:endParaRPr sz="1000">
              <a:solidFill>
                <a:srgbClr val="1C4587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2854375" y="2041875"/>
            <a:ext cx="3431400" cy="400800"/>
          </a:xfrm>
          <a:prstGeom prst="roundRect">
            <a:avLst>
              <a:gd fmla="val 5411" name="adj"/>
            </a:avLst>
          </a:prstGeom>
          <a:solidFill>
            <a:srgbClr val="CFE2F3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1C458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Формат взятия биоматериала</a:t>
            </a:r>
            <a:endParaRPr sz="1000">
              <a:solidFill>
                <a:srgbClr val="1C4587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4638675" y="1543375"/>
            <a:ext cx="4317000" cy="333300"/>
          </a:xfrm>
          <a:prstGeom prst="roundRect">
            <a:avLst>
              <a:gd fmla="val 5520" name="adj"/>
            </a:avLst>
          </a:prstGeom>
          <a:solidFill>
            <a:srgbClr val="D9EAD3"/>
          </a:solidFill>
          <a:ln cap="flat" cmpd="sng" w="9525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A12.22.005.001 "Глюкозотолерантный тест (3 пробы, для беременных)" </a:t>
            </a:r>
            <a:endParaRPr sz="1100">
              <a:solidFill>
                <a:srgbClr val="38761D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5608150" y="8792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Скрининг гестационного сахарного диабета</a:t>
            </a:r>
            <a:endParaRPr sz="8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(Беременные 24-28 недель)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1606750" y="894538"/>
            <a:ext cx="227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Диагностика нарушений углеводного обмена</a:t>
            </a:r>
            <a:endParaRPr b="1"/>
          </a:p>
        </p:txBody>
      </p:sp>
      <p:cxnSp>
        <p:nvCxnSpPr>
          <p:cNvPr id="133" name="Google Shape;133;p15"/>
          <p:cNvCxnSpPr>
            <a:stCxn id="128" idx="2"/>
            <a:endCxn id="127" idx="0"/>
          </p:cNvCxnSpPr>
          <p:nvPr/>
        </p:nvCxnSpPr>
        <p:spPr>
          <a:xfrm flipH="1">
            <a:off x="2343000" y="883525"/>
            <a:ext cx="2229000" cy="66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15"/>
          <p:cNvCxnSpPr>
            <a:stCxn id="128" idx="2"/>
            <a:endCxn id="130" idx="0"/>
          </p:cNvCxnSpPr>
          <p:nvPr/>
        </p:nvCxnSpPr>
        <p:spPr>
          <a:xfrm>
            <a:off x="4572000" y="883525"/>
            <a:ext cx="2225100" cy="66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15"/>
          <p:cNvSpPr/>
          <p:nvPr/>
        </p:nvSpPr>
        <p:spPr>
          <a:xfrm>
            <a:off x="4638675" y="2522225"/>
            <a:ext cx="4317000" cy="583500"/>
          </a:xfrm>
          <a:prstGeom prst="roundRect">
            <a:avLst>
              <a:gd fmla="val 5520" name="adj"/>
            </a:avLst>
          </a:prstGeom>
          <a:solidFill>
            <a:srgbClr val="D9EAD3"/>
          </a:solidFill>
          <a:ln cap="flat" cmpd="sng" w="9525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3</a:t>
            </a:r>
            <a:r>
              <a:rPr lang="ru" sz="1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ru" sz="1000">
                <a:solidFill>
                  <a:srgbClr val="38761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определения уровня глюкозы</a:t>
            </a:r>
            <a:r>
              <a:rPr lang="ru" sz="10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 в венозной крови: натощак, через 1 и 2 часа после углеводной нагрузки</a:t>
            </a:r>
            <a:endParaRPr sz="1000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199325" y="2517663"/>
            <a:ext cx="4287300" cy="583500"/>
          </a:xfrm>
          <a:prstGeom prst="roundRect">
            <a:avLst>
              <a:gd fmla="val 5520" name="adj"/>
            </a:avLst>
          </a:prstGeom>
          <a:solidFill>
            <a:srgbClr val="D9EAD3"/>
          </a:solidFill>
          <a:ln cap="flat" cmpd="sng" w="9525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2</a:t>
            </a:r>
            <a:r>
              <a:rPr lang="ru" sz="1000">
                <a:solidFill>
                  <a:srgbClr val="38761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определения уровня глюкозы</a:t>
            </a:r>
            <a:r>
              <a:rPr lang="ru" sz="10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 в венозной крови: натощак и через 2 часа после углеводной нагрузки</a:t>
            </a:r>
            <a:endParaRPr b="1" sz="1000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7" name="Google Shape;137;p15"/>
          <p:cNvCxnSpPr>
            <a:stCxn id="127" idx="2"/>
          </p:cNvCxnSpPr>
          <p:nvPr/>
        </p:nvCxnSpPr>
        <p:spPr>
          <a:xfrm>
            <a:off x="2342975" y="1876675"/>
            <a:ext cx="0" cy="6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15"/>
          <p:cNvSpPr/>
          <p:nvPr/>
        </p:nvSpPr>
        <p:spPr>
          <a:xfrm>
            <a:off x="2825100" y="3859350"/>
            <a:ext cx="3431400" cy="400800"/>
          </a:xfrm>
          <a:prstGeom prst="roundRect">
            <a:avLst>
              <a:gd fmla="val 5411" name="adj"/>
            </a:avLst>
          </a:prstGeom>
          <a:solidFill>
            <a:srgbClr val="CFE2F3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1C458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Формат выдачи результатов </a:t>
            </a:r>
            <a:endParaRPr sz="1000">
              <a:solidFill>
                <a:srgbClr val="1C4587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99325" y="3125775"/>
            <a:ext cx="8756400" cy="484200"/>
          </a:xfrm>
          <a:prstGeom prst="roundRect">
            <a:avLst>
              <a:gd fmla="val 5520" name="adj"/>
            </a:avLst>
          </a:prstGeom>
          <a:solidFill>
            <a:srgbClr val="F3F3F3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Маркировка проб: используется один ШК с префиксом/суффиксом для каждой пробы (от руки), который лаборатория интерпретирует как порядковый номер пробы</a:t>
            </a:r>
            <a:r>
              <a:rPr lang="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(временный вариант </a:t>
            </a:r>
            <a:r>
              <a:rPr lang="ru" sz="1000">
                <a:latin typeface="Montserrat"/>
                <a:ea typeface="Montserrat"/>
                <a:cs typeface="Montserrat"/>
                <a:sym typeface="Montserrat"/>
              </a:rPr>
              <a:t>пока не реализована генерация трёх уникальных ШК на одно направление)</a:t>
            </a:r>
            <a:endParaRPr sz="10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40" name="Google Shape;14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1900" y="4233563"/>
            <a:ext cx="2111741" cy="605350"/>
          </a:xfrm>
          <a:prstGeom prst="rect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</p:pic>
      <p:pic>
        <p:nvPicPr>
          <p:cNvPr id="141" name="Google Shape;14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7950" y="4233568"/>
            <a:ext cx="2111750" cy="478007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</p:pic>
      <p:cxnSp>
        <p:nvCxnSpPr>
          <p:cNvPr id="142" name="Google Shape;142;p15"/>
          <p:cNvCxnSpPr>
            <a:endCxn id="141" idx="0"/>
          </p:cNvCxnSpPr>
          <p:nvPr/>
        </p:nvCxnSpPr>
        <p:spPr>
          <a:xfrm>
            <a:off x="1609625" y="3607168"/>
            <a:ext cx="4200" cy="6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15"/>
          <p:cNvCxnSpPr>
            <a:endCxn id="140" idx="0"/>
          </p:cNvCxnSpPr>
          <p:nvPr/>
        </p:nvCxnSpPr>
        <p:spPr>
          <a:xfrm flipH="1">
            <a:off x="7467771" y="3614363"/>
            <a:ext cx="2400" cy="61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5"/>
          <p:cNvCxnSpPr/>
          <p:nvPr/>
        </p:nvCxnSpPr>
        <p:spPr>
          <a:xfrm>
            <a:off x="7108150" y="1876675"/>
            <a:ext cx="0" cy="6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15"/>
          <p:cNvSpPr/>
          <p:nvPr/>
        </p:nvSpPr>
        <p:spPr>
          <a:xfrm>
            <a:off x="2721725" y="525238"/>
            <a:ext cx="275100" cy="2751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783F04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>
              <a:solidFill>
                <a:srgbClr val="783F0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2721725" y="2088150"/>
            <a:ext cx="275100" cy="2751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783F04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>
              <a:solidFill>
                <a:srgbClr val="783F0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2721725" y="3922200"/>
            <a:ext cx="275100" cy="2751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783F04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>
              <a:solidFill>
                <a:srgbClr val="783F0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/>
          <p:nvPr/>
        </p:nvSpPr>
        <p:spPr>
          <a:xfrm>
            <a:off x="89575" y="417050"/>
            <a:ext cx="8961000" cy="2824200"/>
          </a:xfrm>
          <a:prstGeom prst="roundRect">
            <a:avLst>
              <a:gd fmla="val 5411" name="adj"/>
            </a:avLst>
          </a:prstGeom>
          <a:solidFill>
            <a:srgbClr val="F8FEFF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C4587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0" y="48825"/>
            <a:ext cx="9144000" cy="3333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8275" y="-75"/>
            <a:ext cx="8771400" cy="373800"/>
          </a:xfrm>
          <a:prstGeom prst="parallelogram">
            <a:avLst>
              <a:gd fmla="val 32879" name="adj"/>
            </a:avLst>
          </a:prstGeom>
          <a:solidFill>
            <a:srgbClr val="EFEFEF"/>
          </a:solidFill>
          <a:ln>
            <a:noFill/>
          </a:ln>
          <a:effectLst>
            <a:outerShdw blurRad="71438" rotWithShape="0" algn="bl" dir="54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306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       </a:t>
            </a:r>
            <a:r>
              <a:rPr lang="ru" sz="1300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  Проведение глюкозотолерантного теста</a:t>
            </a:r>
            <a:br>
              <a:rPr lang="ru" sz="1100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lang="ru" sz="1100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           </a:t>
            </a:r>
            <a:r>
              <a:rPr lang="ru" sz="1100">
                <a:solidFill>
                  <a:srgbClr val="99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ПАМЯТКА для ЦКДЛ и их подразделений</a:t>
            </a:r>
            <a:endParaRPr b="0" i="0" sz="1100" u="none" cap="none" strike="noStrike">
              <a:solidFill>
                <a:srgbClr val="990000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155" name="Google Shape;155;p16" title="ЛОГО-МЗ-МО-НОВЫЙ.png"/>
          <p:cNvPicPr preferRelativeResize="0"/>
          <p:nvPr/>
        </p:nvPicPr>
        <p:blipFill rotWithShape="1">
          <a:blip r:embed="rId3">
            <a:alphaModFix/>
          </a:blip>
          <a:srcRect b="0" l="19677" r="19683" t="0"/>
          <a:stretch/>
        </p:blipFill>
        <p:spPr>
          <a:xfrm>
            <a:off x="426150" y="48825"/>
            <a:ext cx="275190" cy="33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8778321" y="78525"/>
            <a:ext cx="336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57" name="Google Shape;157;p16"/>
          <p:cNvPicPr preferRelativeResize="0"/>
          <p:nvPr/>
        </p:nvPicPr>
        <p:blipFill rotWithShape="1">
          <a:blip r:embed="rId4">
            <a:alphaModFix/>
          </a:blip>
          <a:srcRect b="0" l="0" r="63786" t="0"/>
          <a:stretch/>
        </p:blipFill>
        <p:spPr>
          <a:xfrm>
            <a:off x="748450" y="48800"/>
            <a:ext cx="336899" cy="3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8778321" y="78530"/>
            <a:ext cx="336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ru" sz="10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‹#›</a:t>
            </a:fld>
            <a:endParaRPr b="0" i="0" sz="1000" u="none" cap="none" strike="noStrik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-1600737" y="818350"/>
            <a:ext cx="583500" cy="5835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-1600737" y="1581167"/>
            <a:ext cx="583500" cy="58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-1600737" y="2343983"/>
            <a:ext cx="583500" cy="583500"/>
          </a:xfrm>
          <a:prstGeom prst="rect">
            <a:avLst/>
          </a:prstGeom>
          <a:gradFill>
            <a:gsLst>
              <a:gs pos="0">
                <a:srgbClr val="9C0006"/>
              </a:gs>
              <a:gs pos="100000">
                <a:srgbClr val="EF2F00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-1600737" y="3106800"/>
            <a:ext cx="583500" cy="583500"/>
          </a:xfrm>
          <a:prstGeom prst="rect">
            <a:avLst/>
          </a:prstGeom>
          <a:gradFill>
            <a:gsLst>
              <a:gs pos="0">
                <a:srgbClr val="0B5394"/>
              </a:gs>
              <a:gs pos="100000">
                <a:srgbClr val="3D85C6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63" name="Google Shape;16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3400" y="-26575"/>
            <a:ext cx="645459" cy="4840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/>
          <p:nvPr/>
        </p:nvSpPr>
        <p:spPr>
          <a:xfrm>
            <a:off x="199325" y="485050"/>
            <a:ext cx="4287300" cy="333300"/>
          </a:xfrm>
          <a:prstGeom prst="roundRect">
            <a:avLst>
              <a:gd fmla="val 5520" name="adj"/>
            </a:avLst>
          </a:prstGeom>
          <a:solidFill>
            <a:srgbClr val="D9EAD3"/>
          </a:solidFill>
          <a:ln cap="flat" cmpd="sng" w="9525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A12.22.005 “Глюкозотолерантный тест (2 пробы) ”</a:t>
            </a:r>
            <a:endParaRPr sz="1100">
              <a:solidFill>
                <a:srgbClr val="38761D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4572000" y="485050"/>
            <a:ext cx="4317000" cy="333300"/>
          </a:xfrm>
          <a:prstGeom prst="roundRect">
            <a:avLst>
              <a:gd fmla="val 5520" name="adj"/>
            </a:avLst>
          </a:prstGeom>
          <a:solidFill>
            <a:srgbClr val="D9EAD3"/>
          </a:solidFill>
          <a:ln cap="flat" cmpd="sng" w="9525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A12.22.005.001 "Глюкозотолерантный тест (3 пробы, для беременных)" </a:t>
            </a:r>
            <a:endParaRPr sz="1100">
              <a:solidFill>
                <a:srgbClr val="38761D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4572000" y="1154675"/>
            <a:ext cx="4317000" cy="583500"/>
          </a:xfrm>
          <a:prstGeom prst="roundRect">
            <a:avLst>
              <a:gd fmla="val 5520" name="adj"/>
            </a:avLst>
          </a:prstGeom>
          <a:solidFill>
            <a:srgbClr val="D9EAD3"/>
          </a:solidFill>
          <a:ln cap="flat" cmpd="sng" w="9525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3</a:t>
            </a:r>
            <a:r>
              <a:rPr lang="ru" sz="1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ru" sz="1000">
                <a:solidFill>
                  <a:srgbClr val="38761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определения уровня глюкозы</a:t>
            </a:r>
            <a:r>
              <a:rPr lang="ru" sz="10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 в венозной крови: натощак, через 1 и 2 часа после углеводной нагрузки</a:t>
            </a:r>
            <a:endParaRPr sz="1000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199325" y="1154663"/>
            <a:ext cx="4287300" cy="583500"/>
          </a:xfrm>
          <a:prstGeom prst="roundRect">
            <a:avLst>
              <a:gd fmla="val 5520" name="adj"/>
            </a:avLst>
          </a:prstGeom>
          <a:solidFill>
            <a:srgbClr val="D9EAD3"/>
          </a:solidFill>
          <a:ln cap="flat" cmpd="sng" w="9525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8761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2</a:t>
            </a:r>
            <a:r>
              <a:rPr lang="ru" sz="1000">
                <a:solidFill>
                  <a:srgbClr val="38761D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определения уровня глюкозы</a:t>
            </a:r>
            <a:r>
              <a:rPr lang="ru" sz="10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 в венозной крови: натощак и через 2 часа после углеводной нагрузки</a:t>
            </a:r>
            <a:endParaRPr b="1" sz="1000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8" name="Google Shape;168;p16"/>
          <p:cNvCxnSpPr>
            <a:stCxn id="164" idx="2"/>
            <a:endCxn id="167" idx="0"/>
          </p:cNvCxnSpPr>
          <p:nvPr/>
        </p:nvCxnSpPr>
        <p:spPr>
          <a:xfrm>
            <a:off x="2342975" y="818350"/>
            <a:ext cx="0" cy="33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16"/>
          <p:cNvSpPr/>
          <p:nvPr/>
        </p:nvSpPr>
        <p:spPr>
          <a:xfrm>
            <a:off x="2757550" y="1980613"/>
            <a:ext cx="3431400" cy="400800"/>
          </a:xfrm>
          <a:prstGeom prst="roundRect">
            <a:avLst>
              <a:gd fmla="val 5411" name="adj"/>
            </a:avLst>
          </a:prstGeom>
          <a:solidFill>
            <a:srgbClr val="CFE2F3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1C458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Формат выдачи результатов </a:t>
            </a:r>
            <a:endParaRPr sz="1000">
              <a:solidFill>
                <a:srgbClr val="1C4587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170" name="Google Shape;17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37500" y="2508875"/>
            <a:ext cx="2111741" cy="605350"/>
          </a:xfrm>
          <a:prstGeom prst="rect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</p:pic>
      <p:pic>
        <p:nvPicPr>
          <p:cNvPr id="171" name="Google Shape;17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6150" y="2510693"/>
            <a:ext cx="2111750" cy="478007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</p:pic>
      <p:cxnSp>
        <p:nvCxnSpPr>
          <p:cNvPr id="172" name="Google Shape;172;p16"/>
          <p:cNvCxnSpPr/>
          <p:nvPr/>
        </p:nvCxnSpPr>
        <p:spPr>
          <a:xfrm>
            <a:off x="1887650" y="1738168"/>
            <a:ext cx="14700" cy="73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16"/>
          <p:cNvCxnSpPr>
            <a:endCxn id="170" idx="0"/>
          </p:cNvCxnSpPr>
          <p:nvPr/>
        </p:nvCxnSpPr>
        <p:spPr>
          <a:xfrm flipH="1">
            <a:off x="7293371" y="1741775"/>
            <a:ext cx="1200" cy="7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16"/>
          <p:cNvCxnSpPr>
            <a:stCxn id="165" idx="2"/>
            <a:endCxn id="166" idx="0"/>
          </p:cNvCxnSpPr>
          <p:nvPr/>
        </p:nvCxnSpPr>
        <p:spPr>
          <a:xfrm>
            <a:off x="6730500" y="818350"/>
            <a:ext cx="0" cy="33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16"/>
          <p:cNvSpPr txBox="1"/>
          <p:nvPr/>
        </p:nvSpPr>
        <p:spPr>
          <a:xfrm>
            <a:off x="73975" y="3276150"/>
            <a:ext cx="8992200" cy="1847100"/>
          </a:xfrm>
          <a:prstGeom prst="rect">
            <a:avLst/>
          </a:prstGeom>
          <a:solidFill>
            <a:srgbClr val="EFEFEF">
              <a:alpha val="8667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1) На период до внедрения автоматической генерации трёх уникальных штрихкодов выполнение исследования осуществляется в ручном режиме: </a:t>
            </a:r>
            <a:r>
              <a:rPr lang="ru" sz="9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формирование задания на анализатор и ввод результатов в ЛИС «Брегис» производятся сотрудником лаборатории вручную.</a:t>
            </a:r>
            <a:br>
              <a:rPr lang="ru" sz="9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endParaRPr sz="9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2) </a:t>
            </a:r>
            <a:r>
              <a:rPr lang="ru" sz="9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Исследование выполняется на всех уровнях ЦКДЛ, включая лаборатории 1 уровня и экспресс-лаборатории.</a:t>
            </a:r>
            <a:br>
              <a:rPr lang="ru" sz="9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endParaRPr sz="9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3) </a:t>
            </a:r>
            <a:r>
              <a:rPr lang="ru" sz="9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Предварительная выдача результата первой пробы (натощак) не является обязательной.</a:t>
            </a:r>
            <a:r>
              <a:rPr lang="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Дополнительно допускается назначение отдельного исследования уровня глюкозы натощак накануне проведения глюкозотолерантного теста (вне рамок самого теста).</a:t>
            </a:r>
            <a:br>
              <a:rPr lang="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4) </a:t>
            </a:r>
            <a:r>
              <a:rPr lang="ru" sz="9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По отдельной договорённости с медицинской организацией может быть согласован локальный алгоритм для беременных, предусматривающий предварительную выдачу результата первой пробы (натощак).</a:t>
            </a:r>
            <a:br>
              <a:rPr lang="ru" sz="9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этом случае действует правило: если результат первой пробы выходит за пределы референсного </a:t>
            </a:r>
            <a:br>
              <a:rPr lang="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диапазона, дальнейшие пробы (через 2 часа) не выполняются, и выдается результат только по первой пробе.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6" name="Google Shape;176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64125" y="4657999"/>
            <a:ext cx="2111750" cy="358998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19050">
              <a:srgbClr val="000000">
                <a:alpha val="1216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