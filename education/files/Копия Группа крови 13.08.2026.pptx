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9"/>
      <p:bold r:id="rId10"/>
      <p:italic r:id="rId11"/>
      <p:boldItalic r:id="rId12"/>
    </p:embeddedFont>
    <p:embeddedFont>
      <p:font typeface="Montserrat Black" panose="00000A00000000000000" pitchFamily="2" charset="-52"/>
      <p:bold r:id="rId13"/>
      <p:boldItalic r:id="rId14"/>
    </p:embeddedFont>
    <p:embeddedFont>
      <p:font typeface="Montserrat ExtraBold" panose="00000900000000000000" pitchFamily="2" charset="-52"/>
      <p:bold r:id="rId15"/>
      <p:boldItalic r:id="rId16"/>
    </p:embeddedFont>
    <p:embeddedFont>
      <p:font typeface="Montserrat Medium" panose="00000600000000000000" pitchFamily="2" charset="-52"/>
      <p:regular r:id="rId17"/>
      <p:bold r:id="rId18"/>
      <p:italic r:id="rId19"/>
      <p:boldItalic r:id="rId20"/>
    </p:embeddedFont>
    <p:embeddedFont>
      <p:font typeface="Montserrat SemiBold" panose="00000700000000000000" pitchFamily="2" charset="-52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Roboto Medium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7D7D39-2DBA-4DAD-8B77-694B9E6713AE}">
  <a:tblStyle styleId="{457D7D39-2DBA-4DAD-8B77-694B9E6713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7" d="100"/>
          <a:sy n="197" d="100"/>
        </p:scale>
        <p:origin x="1344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font" Target="fonts/font24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schemas.openxmlformats.org/officeDocument/2006/relationships/theme" Target="theme/theme1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450cf4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a450cf4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a450cf4aa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a450cf4aa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51d595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651d595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4c6bf779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a4c6bf779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eacf8c2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aeacf8c2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3c0b6d22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3c0b6d22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14500"/>
            <a:ext cx="9144000" cy="51579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l="4089" t="5749" r="25770"/>
          <a:stretch/>
        </p:blipFill>
        <p:spPr>
          <a:xfrm>
            <a:off x="1201400" y="-14500"/>
            <a:ext cx="7942600" cy="51579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 rot="5400000">
            <a:off x="1875350" y="-688289"/>
            <a:ext cx="5168400" cy="6516300"/>
          </a:xfrm>
          <a:prstGeom prst="rect">
            <a:avLst/>
          </a:prstGeom>
          <a:gradFill>
            <a:gsLst>
              <a:gs pos="0">
                <a:srgbClr val="073763">
                  <a:alpha val="0"/>
                </a:srgbClr>
              </a:gs>
              <a:gs pos="30000">
                <a:srgbClr val="073763">
                  <a:alpha val="54510"/>
                </a:srgbClr>
              </a:gs>
              <a:gs pos="67000">
                <a:srgbClr val="073763">
                  <a:alpha val="78431"/>
                </a:srgbClr>
              </a:gs>
              <a:gs pos="100000">
                <a:srgbClr val="07376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-769625" y="3116350"/>
            <a:ext cx="8327400" cy="1566000"/>
          </a:xfrm>
          <a:prstGeom prst="parallelogram">
            <a:avLst>
              <a:gd name="adj" fmla="val 32879"/>
            </a:avLst>
          </a:prstGeom>
          <a:solidFill>
            <a:srgbClr val="EFEFEF">
              <a:alpha val="867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183625" y="3207675"/>
            <a:ext cx="6972600" cy="14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2100">
                <a:solidFill>
                  <a:srgbClr val="07376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ЦЕНТРАЛИЗАЦИЯ ЛАБОРАТОРНОЙ СЛУЖБЫ</a:t>
            </a:r>
            <a:endParaRPr sz="2100">
              <a:solidFill>
                <a:srgbClr val="07376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2000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 назначения исследования группы крови </a:t>
            </a:r>
            <a:endParaRPr sz="2000">
              <a:solidFill>
                <a:srgbClr val="0737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-261775" y="2891506"/>
            <a:ext cx="2415900" cy="302700"/>
          </a:xfrm>
          <a:prstGeom prst="parallelogram">
            <a:avLst>
              <a:gd name="adj" fmla="val 32879"/>
            </a:avLst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628782" y="4532250"/>
            <a:ext cx="2214300" cy="358800"/>
          </a:xfrm>
          <a:prstGeom prst="parallelogram">
            <a:avLst>
              <a:gd name="adj" fmla="val 32879"/>
            </a:avLst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август 2026</a:t>
            </a:r>
            <a:endParaRPr sz="16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3" title="лого МЗ вектор ai_Монтажная область 1.png"/>
          <p:cNvPicPr preferRelativeResize="0"/>
          <p:nvPr/>
        </p:nvPicPr>
        <p:blipFill rotWithShape="1">
          <a:blip r:embed="rId4">
            <a:alphaModFix/>
          </a:blip>
          <a:srcRect t="23826" b="23821"/>
          <a:stretch/>
        </p:blipFill>
        <p:spPr>
          <a:xfrm>
            <a:off x="-15375" y="274174"/>
            <a:ext cx="2415898" cy="711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3"/>
          <p:cNvGrpSpPr/>
          <p:nvPr/>
        </p:nvGrpSpPr>
        <p:grpSpPr>
          <a:xfrm>
            <a:off x="346200" y="1186432"/>
            <a:ext cx="1664709" cy="596475"/>
            <a:chOff x="270000" y="1026199"/>
            <a:chExt cx="1664709" cy="596475"/>
          </a:xfrm>
        </p:grpSpPr>
        <p:pic>
          <p:nvPicPr>
            <p:cNvPr id="63" name="Google Shape;63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0000" y="1026199"/>
              <a:ext cx="1664709" cy="596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13"/>
            <p:cNvSpPr/>
            <p:nvPr/>
          </p:nvSpPr>
          <p:spPr>
            <a:xfrm>
              <a:off x="281050" y="1029975"/>
              <a:ext cx="224700" cy="206100"/>
            </a:xfrm>
            <a:prstGeom prst="heart">
              <a:avLst/>
            </a:prstGeom>
            <a:solidFill>
              <a:srgbClr val="E0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13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77675" y="-75"/>
            <a:ext cx="8680200" cy="382200"/>
          </a:xfrm>
          <a:prstGeom prst="parallelogram">
            <a:avLst>
              <a:gd name="adj" fmla="val 32879"/>
            </a:avLst>
          </a:prstGeom>
          <a:solidFill>
            <a:srgbClr val="EFEFEF"/>
          </a:solidFill>
          <a:ln>
            <a:noFill/>
          </a:ln>
          <a:effectLst>
            <a:outerShdw blurRad="71438" dist="190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30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НАЗНАЧЕНИЯ И ОПРЕДЕЛЕНИЯ ГРУППЫ КРОВИ (основные моменты)</a:t>
            </a: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75" name="Google Shape;75;p14" title="ЛОГО-МЗ-МО-НОВЫЙ.png"/>
          <p:cNvPicPr preferRelativeResize="0"/>
          <p:nvPr/>
        </p:nvPicPr>
        <p:blipFill rotWithShape="1">
          <a:blip r:embed="rId3">
            <a:alphaModFix/>
          </a:blip>
          <a:srcRect l="19677" r="19683"/>
          <a:stretch/>
        </p:blipFill>
        <p:spPr>
          <a:xfrm>
            <a:off x="426150" y="48825"/>
            <a:ext cx="27519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4">
            <a:alphaModFix/>
          </a:blip>
          <a:srcRect r="63786"/>
          <a:stretch/>
        </p:blipFill>
        <p:spPr>
          <a:xfrm>
            <a:off x="748450" y="48800"/>
            <a:ext cx="33689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" sz="100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fld>
            <a:endParaRPr sz="100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130575" y="484109"/>
            <a:ext cx="8774400" cy="4845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Приказ Минздрава России от 20 октября 2020 года №1134н «Об утверждении порядка медицинского обследования реципиента, проведения проб на индивидуальную совместимость, включая биологическую пробу, при трансфузии донорской крови и (или) её компонентов».</a:t>
            </a:r>
            <a:endParaRPr sz="1000">
              <a:solidFill>
                <a:srgbClr val="66666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01825" y="1070550"/>
            <a:ext cx="402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ОПРЕДЕЛЕНИЕ ГРУППЫ КРОВИ:</a:t>
            </a:r>
            <a:endParaRPr sz="1000">
              <a:solidFill>
                <a:srgbClr val="C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aphicFrame>
        <p:nvGraphicFramePr>
          <p:cNvPr id="85" name="Google Shape;85;p14"/>
          <p:cNvGraphicFramePr/>
          <p:nvPr/>
        </p:nvGraphicFramePr>
        <p:xfrm>
          <a:off x="163925" y="2683475"/>
          <a:ext cx="8707700" cy="1699110"/>
        </p:xfrm>
        <a:graphic>
          <a:graphicData uri="http://schemas.openxmlformats.org/drawingml/2006/table">
            <a:tbl>
              <a:tblPr>
                <a:noFill/>
                <a:tableStyleId>{457D7D39-2DBA-4DAD-8B77-694B9E6713AE}</a:tableStyleId>
              </a:tblPr>
              <a:tblGrid>
                <a:gridCol w="435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Группа крови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0B5394"/>
                        </a:gs>
                        <a:gs pos="100000">
                          <a:srgbClr val="3D85C6"/>
                        </a:gs>
                      </a:gsLst>
                      <a:lin ang="8099331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Резус-принадлежность</a:t>
                      </a:r>
                      <a:endParaRPr sz="10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rgbClr val="0B5394"/>
                        </a:gs>
                        <a:gs pos="100000">
                          <a:srgbClr val="3D85C6"/>
                        </a:gs>
                      </a:gsLst>
                      <a:lin ang="8099331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rgbClr val="0F111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0(I)                                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rgbClr val="0F111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Rh+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rgbClr val="0F111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A(II) 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rgbClr val="0F111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Rh-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rgbClr val="0F111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B(III) 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 </a:t>
                      </a:r>
                      <a:r>
                        <a:rPr lang="ru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weak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rgbClr val="0F1115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AB(IV)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 partial</a:t>
                      </a:r>
                      <a:endParaRPr sz="1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6" name="Google Shape;86;p14"/>
          <p:cNvCxnSpPr/>
          <p:nvPr/>
        </p:nvCxnSpPr>
        <p:spPr>
          <a:xfrm>
            <a:off x="184800" y="1478450"/>
            <a:ext cx="0" cy="102930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14"/>
          <p:cNvSpPr txBox="1"/>
          <p:nvPr/>
        </p:nvSpPr>
        <p:spPr>
          <a:xfrm>
            <a:off x="186416" y="1182835"/>
            <a:ext cx="4287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ru" sz="1000" b="1" dirty="0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1. </a:t>
            </a:r>
            <a:r>
              <a:rPr lang="ru" sz="1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Первичное определение группы крови по системе АВ0 и резус-принадлежности</a:t>
            </a:r>
            <a:r>
              <a:rPr lang="ru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организуется в отделении врачом-трансфузиологом, лечащим врачом либо дежурным врачом, которые прошли обучение по вопросам трансфузиологии с внесением результатов в медицинскую документацию </a:t>
            </a:r>
            <a:endParaRPr sz="10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88" name="Google Shape;88;p14"/>
          <p:cNvCxnSpPr/>
          <p:nvPr/>
        </p:nvCxnSpPr>
        <p:spPr>
          <a:xfrm>
            <a:off x="4658900" y="1517900"/>
            <a:ext cx="0" cy="102930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" name="Google Shape;89;p14"/>
          <p:cNvSpPr txBox="1"/>
          <p:nvPr/>
        </p:nvSpPr>
        <p:spPr>
          <a:xfrm>
            <a:off x="4693248" y="1409250"/>
            <a:ext cx="4150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 dirty="0">
                <a:solidFill>
                  <a:srgbClr val="C00000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2. </a:t>
            </a:r>
            <a:r>
              <a:rPr lang="ru" sz="1000" b="1" dirty="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Направление образца крови реципиента в лабораторию для подтверждающего исследования</a:t>
            </a:r>
            <a:r>
              <a:rPr lang="ru" sz="1000" dirty="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000" dirty="0">
                <a:solidFill>
                  <a:schemeClr val="dk1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является обязательным этапом, </a:t>
            </a:r>
            <a:r>
              <a:rPr lang="ru" sz="1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 оформлении такого направления </a:t>
            </a:r>
            <a:r>
              <a:rPr lang="ru" sz="1000" u="sng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результат первичного определения группы крови заполняется в поле “комментарий”.</a:t>
            </a:r>
            <a:endParaRPr sz="100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184800" y="2402400"/>
            <a:ext cx="4029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7376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 ЗАПОЛНЕНИЯ:</a:t>
            </a:r>
            <a:endParaRPr sz="1000">
              <a:solidFill>
                <a:srgbClr val="07376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63925" y="4493950"/>
            <a:ext cx="6143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7376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КОДЫ УСЛУГ ДОСТУПНЫЕ ДЛЯ ЗАКАЗА:</a:t>
            </a:r>
            <a:br>
              <a:rPr lang="ru" sz="1000">
                <a:solidFill>
                  <a:srgbClr val="07376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" sz="1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A12.05.005 </a:t>
            </a: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основных групп по системе AB0</a:t>
            </a:r>
            <a:br>
              <a:rPr lang="ru" sz="1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" sz="1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A12.05.006 </a:t>
            </a: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Определение антигена D системы Резус (резус-фактор)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177675" y="-75"/>
            <a:ext cx="8680200" cy="382200"/>
          </a:xfrm>
          <a:prstGeom prst="parallelogram">
            <a:avLst>
              <a:gd name="adj" fmla="val 32879"/>
            </a:avLst>
          </a:prstGeom>
          <a:solidFill>
            <a:srgbClr val="EFEFEF"/>
          </a:solidFill>
          <a:ln>
            <a:noFill/>
          </a:ln>
          <a:effectLst>
            <a:outerShdw blurRad="71438" dist="190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30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     </a:t>
            </a:r>
            <a:r>
              <a:rPr lang="ru" sz="10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Схема назначения и выполнения группы крови в рамках первичного исследования</a:t>
            </a:r>
            <a:endParaRPr sz="10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" sz="100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fld>
            <a:endParaRPr sz="100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381300" y="448100"/>
            <a:ext cx="8381400" cy="273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НАПРАВЛЯЮЩАЯ МЕДИЦИНСКАЯ ОРГАНИЗАЦИЯ</a:t>
            </a:r>
            <a:endParaRPr sz="900" b="1">
              <a:solidFill>
                <a:srgbClr val="0737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1787460" y="1742951"/>
            <a:ext cx="6239100" cy="711900"/>
          </a:xfrm>
          <a:prstGeom prst="roundRect">
            <a:avLst>
              <a:gd name="adj" fmla="val 5942"/>
            </a:avLst>
          </a:prstGeom>
          <a:solidFill>
            <a:schemeClr val="lt1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Исследование выполняется непосредственно в отделении МО</a:t>
            </a: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С использованием реагентов МО и сотрудниками МО - без привлечения лабораторной службы.</a:t>
            </a:r>
            <a:endParaRPr sz="1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1787460" y="2700960"/>
            <a:ext cx="6239100" cy="536100"/>
          </a:xfrm>
          <a:prstGeom prst="roundRect">
            <a:avLst>
              <a:gd name="adj" fmla="val 5942"/>
            </a:avLst>
          </a:prstGeom>
          <a:solidFill>
            <a:schemeClr val="lt1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 </a:t>
            </a: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исследования вносится ответственным сотрудником МО непосредственно </a:t>
            </a: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в ЕМИАС</a:t>
            </a: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1787460" y="817665"/>
            <a:ext cx="6239100" cy="763500"/>
          </a:xfrm>
          <a:prstGeom prst="roundRect">
            <a:avLst>
              <a:gd name="adj" fmla="val 5942"/>
            </a:avLst>
          </a:prstGeom>
          <a:solidFill>
            <a:schemeClr val="lt1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При оформлении</a:t>
            </a: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исследования в ЕМИАС </a:t>
            </a: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на первичное определение</a:t>
            </a: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группы крови </a:t>
            </a: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в качестве исполнителя</a:t>
            </a: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необходимо выбрать </a:t>
            </a: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внелабораторное подразделение самой МО .</a:t>
            </a:r>
            <a:endParaRPr sz="1100" b="1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787437" y="3764391"/>
            <a:ext cx="6239100" cy="853800"/>
          </a:xfrm>
          <a:prstGeom prst="roundRect">
            <a:avLst>
              <a:gd name="adj" fmla="val 5942"/>
            </a:avLst>
          </a:prstGeom>
          <a:solidFill>
            <a:schemeClr val="lt1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Оформление в ЕМИАС </a:t>
            </a: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направления на подтверждающее исследование </a:t>
            </a:r>
            <a:r>
              <a:rPr lang="ru" sz="11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в качестве исполнителя необходимо выбрать лабораторию </a:t>
            </a: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с обязательным указанием данных первичного определения в поле </a:t>
            </a:r>
            <a:r>
              <a:rPr lang="ru" sz="1100" b="1" u="sng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“Комментарий”</a:t>
            </a:r>
            <a:endParaRPr sz="1100" b="1" u="sng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0" name="Google Shape;110;p15"/>
          <p:cNvCxnSpPr>
            <a:stCxn id="108" idx="2"/>
            <a:endCxn id="106" idx="0"/>
          </p:cNvCxnSpPr>
          <p:nvPr/>
        </p:nvCxnSpPr>
        <p:spPr>
          <a:xfrm>
            <a:off x="4907010" y="1581165"/>
            <a:ext cx="0" cy="1617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4906958" y="2437743"/>
            <a:ext cx="0" cy="2679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5"/>
          <p:cNvSpPr/>
          <p:nvPr/>
        </p:nvSpPr>
        <p:spPr>
          <a:xfrm>
            <a:off x="1085350" y="918325"/>
            <a:ext cx="393900" cy="382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1100" b="1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85350" y="1836725"/>
            <a:ext cx="393900" cy="382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1100" b="1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085350" y="2705625"/>
            <a:ext cx="393900" cy="382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1100" b="1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085350" y="3960500"/>
            <a:ext cx="393900" cy="3822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 b="1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6" name="Google Shape;116;p15"/>
          <p:cNvCxnSpPr>
            <a:stCxn id="112" idx="4"/>
            <a:endCxn id="113" idx="0"/>
          </p:cNvCxnSpPr>
          <p:nvPr/>
        </p:nvCxnSpPr>
        <p:spPr>
          <a:xfrm>
            <a:off x="1282300" y="1300525"/>
            <a:ext cx="0" cy="5361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>
            <a:stCxn id="113" idx="4"/>
          </p:cNvCxnSpPr>
          <p:nvPr/>
        </p:nvCxnSpPr>
        <p:spPr>
          <a:xfrm flipH="1">
            <a:off x="1281400" y="2218925"/>
            <a:ext cx="900" cy="481800"/>
          </a:xfrm>
          <a:prstGeom prst="straightConnector1">
            <a:avLst/>
          </a:prstGeom>
          <a:noFill/>
          <a:ln w="28575" cap="flat" cmpd="sng">
            <a:solidFill>
              <a:srgbClr val="1155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5"/>
          <p:cNvCxnSpPr>
            <a:endCxn id="115" idx="0"/>
          </p:cNvCxnSpPr>
          <p:nvPr/>
        </p:nvCxnSpPr>
        <p:spPr>
          <a:xfrm>
            <a:off x="1282300" y="3106700"/>
            <a:ext cx="0" cy="85380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>
            <a:stCxn id="107" idx="2"/>
            <a:endCxn id="109" idx="0"/>
          </p:cNvCxnSpPr>
          <p:nvPr/>
        </p:nvCxnSpPr>
        <p:spPr>
          <a:xfrm>
            <a:off x="4907010" y="3237060"/>
            <a:ext cx="0" cy="527400"/>
          </a:xfrm>
          <a:prstGeom prst="straightConnector1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0" name="Google Shape;120;p15" title="ЛОГО-МЗ-МО-НОВЫЙ.png"/>
          <p:cNvPicPr preferRelativeResize="0"/>
          <p:nvPr/>
        </p:nvPicPr>
        <p:blipFill rotWithShape="1">
          <a:blip r:embed="rId3">
            <a:alphaModFix/>
          </a:blip>
          <a:srcRect l="19677" r="19683"/>
          <a:stretch/>
        </p:blipFill>
        <p:spPr>
          <a:xfrm>
            <a:off x="386555" y="44287"/>
            <a:ext cx="249622" cy="3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4">
            <a:alphaModFix/>
          </a:blip>
          <a:srcRect r="63786"/>
          <a:stretch/>
        </p:blipFill>
        <p:spPr>
          <a:xfrm>
            <a:off x="678909" y="44264"/>
            <a:ext cx="305596" cy="302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6454" y="-24105"/>
            <a:ext cx="585466" cy="439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177675" y="-75"/>
            <a:ext cx="8680200" cy="382200"/>
          </a:xfrm>
          <a:prstGeom prst="parallelogram">
            <a:avLst>
              <a:gd name="adj" fmla="val 32879"/>
            </a:avLst>
          </a:prstGeom>
          <a:solidFill>
            <a:srgbClr val="EFEFEF"/>
          </a:solidFill>
          <a:ln>
            <a:noFill/>
          </a:ln>
          <a:effectLst>
            <a:outerShdw blurRad="71438" dist="190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30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ПРИМЕР ОФОРМЛЕНИЯ НАПРАВЛЕНИЯ НА ПОДТВЕРЖДАЮЩЕЕ ИССЛЕДОВАНИЕ ГРУППЫ КРОВИ В ЕМИАС</a:t>
            </a: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29" name="Google Shape;129;p16" title="ЛОГО-МЗ-МО-НОВЫЙ.png"/>
          <p:cNvPicPr preferRelativeResize="0"/>
          <p:nvPr/>
        </p:nvPicPr>
        <p:blipFill rotWithShape="1">
          <a:blip r:embed="rId3">
            <a:alphaModFix/>
          </a:blip>
          <a:srcRect l="19677" r="19683"/>
          <a:stretch/>
        </p:blipFill>
        <p:spPr>
          <a:xfrm>
            <a:off x="426150" y="48825"/>
            <a:ext cx="27519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4">
            <a:alphaModFix/>
          </a:blip>
          <a:srcRect r="63786"/>
          <a:stretch/>
        </p:blipFill>
        <p:spPr>
          <a:xfrm>
            <a:off x="748450" y="48800"/>
            <a:ext cx="33689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" sz="100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fld>
            <a:endParaRPr sz="100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150" y="441475"/>
            <a:ext cx="8158925" cy="46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1637975"/>
            <a:ext cx="9144000" cy="3261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76550" y="-75"/>
            <a:ext cx="8680200" cy="382200"/>
          </a:xfrm>
          <a:prstGeom prst="parallelogram">
            <a:avLst>
              <a:gd name="adj" fmla="val 32879"/>
            </a:avLst>
          </a:prstGeom>
          <a:solidFill>
            <a:srgbClr val="EFEFEF"/>
          </a:solidFill>
          <a:ln>
            <a:noFill/>
          </a:ln>
          <a:effectLst>
            <a:outerShdw blurRad="71438" dist="190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30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НАЗНАЧЕНИЯ И ОПРЕДЕЛЕНИЯ ГРУППЫ КРОВИ (основные моменты)</a:t>
            </a: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46" name="Google Shape;146;p17" title="ЛОГО-МЗ-МО-НОВЫЙ.png"/>
          <p:cNvPicPr preferRelativeResize="0"/>
          <p:nvPr/>
        </p:nvPicPr>
        <p:blipFill rotWithShape="1">
          <a:blip r:embed="rId3">
            <a:alphaModFix/>
          </a:blip>
          <a:srcRect l="19677" r="19683"/>
          <a:stretch/>
        </p:blipFill>
        <p:spPr>
          <a:xfrm>
            <a:off x="426150" y="48825"/>
            <a:ext cx="27519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 rotWithShape="1">
          <a:blip r:embed="rId4">
            <a:alphaModFix/>
          </a:blip>
          <a:srcRect r="63786"/>
          <a:stretch/>
        </p:blipFill>
        <p:spPr>
          <a:xfrm>
            <a:off x="748450" y="48800"/>
            <a:ext cx="33689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" sz="100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fld>
            <a:endParaRPr sz="100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216800" y="437225"/>
            <a:ext cx="634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ОПРЕДЕЛЕНИЕ ГРУППЫ КРОВИ (ЛАБОРАТОРИЯ):</a:t>
            </a:r>
            <a:endParaRPr sz="1000">
              <a:solidFill>
                <a:srgbClr val="C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55" name="Google Shape;155;p17"/>
          <p:cNvCxnSpPr/>
          <p:nvPr/>
        </p:nvCxnSpPr>
        <p:spPr>
          <a:xfrm>
            <a:off x="177675" y="830450"/>
            <a:ext cx="2100" cy="75300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" name="Google Shape;156;p17"/>
          <p:cNvSpPr txBox="1"/>
          <p:nvPr/>
        </p:nvSpPr>
        <p:spPr>
          <a:xfrm>
            <a:off x="177675" y="883700"/>
            <a:ext cx="886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При проведении подтверждающего исследования - </a:t>
            </a: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если в направлении, полученном из стационара, не указана группа крови - лаборатория имеет право забраковать данный образец с формулировкой “нет данных первичного определения группы крови” 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38925" y="1749125"/>
            <a:ext cx="8381400" cy="338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ПРИ НЕСОВПАДЕНИИ РЕЗУЛЬТАТОВ ОПРЕДЕЛЕНИЯ ГРУППЫ КРОВИ В ЛАБОРАТОРИИ: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38925" y="2211625"/>
            <a:ext cx="8381400" cy="64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Повторное проведение теста</a:t>
            </a: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- лаборатория должна повторить исследование с использованием других реагентов или методов, например, при слабых реакциях или аномалиях может потребоваться использование высокочувствительных реагентов, увеличение времени инкубации, проверка на наличие холодовых антител или других факторов, влияющих на результат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38925" y="2981925"/>
            <a:ext cx="8381400" cy="93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При выявлении расхождения</a:t>
            </a: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лаборатория обязана не выдавать результат до устранения причин несоответствия, внести данные в “Журнал регистрации расхождений результатов определения группы крови”. Специалист, выявивший несовпадение, должен незамедлительно сообщить об этом в направляющую образец медицинскую организацию, в которой должны осуществить повторный забор образца крови повторить первичное исследования и оформить повторное направление на подтверждающее исследование. Лаборатория имеет право забраковать первичный образец с формулировкой «не совпадение группы крови».</a:t>
            </a:r>
            <a:endParaRPr sz="1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19875" y="4041125"/>
            <a:ext cx="8419500" cy="64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 b="1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При выявлении клинически значимых факторов</a:t>
            </a: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 (ослабленные антигены, интерференция и др.) лаборатория выдает результат, отражая полную информацию по случаю в бланке результата (в том числе в поле «Комментарий» при необходимости) 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1" name="Google Shape;161;p17"/>
          <p:cNvCxnSpPr>
            <a:stCxn id="157" idx="2"/>
            <a:endCxn id="158" idx="0"/>
          </p:cNvCxnSpPr>
          <p:nvPr/>
        </p:nvCxnSpPr>
        <p:spPr>
          <a:xfrm>
            <a:off x="4729625" y="2087825"/>
            <a:ext cx="0" cy="1239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17"/>
          <p:cNvSpPr/>
          <p:nvPr/>
        </p:nvSpPr>
        <p:spPr>
          <a:xfrm>
            <a:off x="89250" y="2365525"/>
            <a:ext cx="336900" cy="338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2450" y="3229200"/>
            <a:ext cx="430500" cy="338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1.1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19050" y="4195025"/>
            <a:ext cx="477300" cy="338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1.2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Google Shape;169;p18"/>
          <p:cNvCxnSpPr/>
          <p:nvPr/>
        </p:nvCxnSpPr>
        <p:spPr>
          <a:xfrm>
            <a:off x="2385375" y="2628646"/>
            <a:ext cx="0" cy="33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8"/>
          <p:cNvCxnSpPr/>
          <p:nvPr/>
        </p:nvCxnSpPr>
        <p:spPr>
          <a:xfrm>
            <a:off x="6677275" y="2628657"/>
            <a:ext cx="0" cy="33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0" y="48825"/>
            <a:ext cx="9144000" cy="333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177675" y="-75"/>
            <a:ext cx="8680200" cy="382200"/>
          </a:xfrm>
          <a:prstGeom prst="parallelogram">
            <a:avLst>
              <a:gd name="adj" fmla="val 32879"/>
            </a:avLst>
          </a:prstGeom>
          <a:solidFill>
            <a:srgbClr val="EFEFEF"/>
          </a:solidFill>
          <a:ln>
            <a:noFill/>
          </a:ln>
          <a:effectLst>
            <a:outerShdw blurRad="71438" dist="19050" dir="5400000" algn="bl" rotWithShape="0">
              <a:srgbClr val="000000">
                <a:alpha val="11760"/>
              </a:srgbClr>
            </a:outerShdw>
          </a:effectLst>
        </p:spPr>
        <p:txBody>
          <a:bodyPr spcFirstLastPara="1" wrap="square" lIns="3060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СХЕМА НАЗНАЧЕНИЯ ГРУППЫ КРОВИ НА ПОДТВЕРЖДАЮЩЕЕ ИССЛЕДОВАНИЕ </a:t>
            </a:r>
            <a:endParaRPr sz="1100">
              <a:solidFill>
                <a:srgbClr val="43434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73" name="Google Shape;173;p18" title="ЛОГО-МЗ-МО-НОВЫЙ.png"/>
          <p:cNvPicPr preferRelativeResize="0"/>
          <p:nvPr/>
        </p:nvPicPr>
        <p:blipFill rotWithShape="1">
          <a:blip r:embed="rId3">
            <a:alphaModFix/>
          </a:blip>
          <a:srcRect l="19677" r="19683"/>
          <a:stretch/>
        </p:blipFill>
        <p:spPr>
          <a:xfrm>
            <a:off x="426150" y="48825"/>
            <a:ext cx="275190" cy="33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8778321" y="78525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4">
            <a:alphaModFix/>
          </a:blip>
          <a:srcRect r="63786"/>
          <a:stretch/>
        </p:blipFill>
        <p:spPr>
          <a:xfrm>
            <a:off x="748450" y="48800"/>
            <a:ext cx="336899" cy="3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8778321" y="78530"/>
            <a:ext cx="336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ru" sz="100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fld>
            <a:endParaRPr sz="100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-1600737" y="818350"/>
            <a:ext cx="583500" cy="5835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-1600737" y="2343983"/>
            <a:ext cx="583500" cy="583500"/>
          </a:xfrm>
          <a:prstGeom prst="rect">
            <a:avLst/>
          </a:prstGeom>
          <a:gradFill>
            <a:gsLst>
              <a:gs pos="0">
                <a:srgbClr val="9C0006"/>
              </a:gs>
              <a:gs pos="100000">
                <a:srgbClr val="EF2F00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-1600737" y="3106800"/>
            <a:ext cx="583500" cy="583500"/>
          </a:xfrm>
          <a:prstGeom prst="rect">
            <a:avLst/>
          </a:prstGeom>
          <a:gradFill>
            <a:gsLst>
              <a:gs pos="0">
                <a:srgbClr val="0B5394"/>
              </a:gs>
              <a:gs pos="100000">
                <a:srgbClr val="3D85C6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27075" y="478950"/>
            <a:ext cx="8381400" cy="273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rgbClr val="073763"/>
                </a:solidFill>
                <a:latin typeface="Montserrat"/>
                <a:ea typeface="Montserrat"/>
                <a:cs typeface="Montserrat"/>
                <a:sym typeface="Montserrat"/>
              </a:rPr>
              <a:t>НАПРАВЛЯЮЩАЯ МЕДИЦИНСКАЯ ОРГАНИЗАЦИЯ</a:t>
            </a:r>
            <a:endParaRPr sz="900" b="1">
              <a:solidFill>
                <a:srgbClr val="0737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27075" y="849653"/>
            <a:ext cx="8381400" cy="381600"/>
          </a:xfrm>
          <a:prstGeom prst="roundRect">
            <a:avLst>
              <a:gd name="adj" fmla="val 2083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Первичное определение группы крови и резус-принадлежности в стационаре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27075" y="1276168"/>
            <a:ext cx="8381400" cy="381600"/>
          </a:xfrm>
          <a:prstGeom prst="roundRect">
            <a:avLst>
              <a:gd name="adj" fmla="val 2083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Оформление направления на подтверждающее исследование в лабораторию </a:t>
            </a:r>
            <a:br>
              <a:rPr lang="ru" sz="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обязательным указанием данных первичного определения в поле “комментарий”</a:t>
            </a:r>
            <a:endParaRPr sz="9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327075" y="2247053"/>
            <a:ext cx="8381400" cy="381600"/>
          </a:xfrm>
          <a:prstGeom prst="roundRect">
            <a:avLst>
              <a:gd name="adj" fmla="val 2083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Проверка наличия данных о первичном определении 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32700" y="3839200"/>
            <a:ext cx="1314300" cy="890400"/>
          </a:xfrm>
          <a:prstGeom prst="roundRect">
            <a:avLst>
              <a:gd name="adj" fmla="val 15650"/>
            </a:avLst>
          </a:prstGeom>
          <a:solidFill>
            <a:srgbClr val="D9EAD3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Внесение и валидация результата 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574000" y="3723025"/>
            <a:ext cx="2316000" cy="1290300"/>
          </a:xfrm>
          <a:prstGeom prst="roundRect">
            <a:avLst>
              <a:gd name="adj" fmla="val 15650"/>
            </a:avLst>
          </a:prstGeom>
          <a:solidFill>
            <a:srgbClr val="FFDCD6"/>
          </a:solidFill>
          <a:ln w="9525" cap="flat" cmpd="sng">
            <a:solidFill>
              <a:srgbClr val="CC41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Сообщить о несоответствии в направляющую образец МО, забраковать первичный образец с формулировкой «не совпадение группы крови», внести данные в журнал несоответствия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075675" y="4068475"/>
            <a:ext cx="2633400" cy="890400"/>
          </a:xfrm>
          <a:prstGeom prst="roundRect">
            <a:avLst>
              <a:gd name="adj" fmla="val 1565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Повторить первичное исследование из нового образца крови реципиента, оформить повторное направление на подтверждающее исследование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075675" y="3729775"/>
            <a:ext cx="2633400" cy="338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3366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 b="1">
                <a:solidFill>
                  <a:srgbClr val="336682"/>
                </a:solidFill>
                <a:latin typeface="Montserrat"/>
                <a:ea typeface="Montserrat"/>
                <a:cs typeface="Montserrat"/>
                <a:sym typeface="Montserrat"/>
              </a:rPr>
              <a:t>НАПРАВЛЯЮЩАЯ МЕДИЦИНСКАЯ ОРГАНИЗАЦИЯ</a:t>
            </a:r>
            <a:endParaRPr sz="800" b="1">
              <a:solidFill>
                <a:srgbClr val="33668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9" name="Google Shape;189;p18"/>
          <p:cNvCxnSpPr/>
          <p:nvPr/>
        </p:nvCxnSpPr>
        <p:spPr>
          <a:xfrm>
            <a:off x="4517775" y="1663643"/>
            <a:ext cx="9900" cy="514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0" name="Google Shape;190;p18"/>
          <p:cNvCxnSpPr/>
          <p:nvPr/>
        </p:nvCxnSpPr>
        <p:spPr>
          <a:xfrm>
            <a:off x="7315800" y="3468408"/>
            <a:ext cx="0" cy="20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p18"/>
          <p:cNvCxnSpPr>
            <a:endCxn id="185" idx="0"/>
          </p:cNvCxnSpPr>
          <p:nvPr/>
        </p:nvCxnSpPr>
        <p:spPr>
          <a:xfrm flipH="1">
            <a:off x="789850" y="3468400"/>
            <a:ext cx="2100" cy="37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3840925" y="3462500"/>
            <a:ext cx="0" cy="26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p18"/>
          <p:cNvSpPr/>
          <p:nvPr/>
        </p:nvSpPr>
        <p:spPr>
          <a:xfrm>
            <a:off x="327075" y="1754713"/>
            <a:ext cx="8381400" cy="273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b="1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rPr>
              <a:t>ЛАБОРАТОРИЯ</a:t>
            </a:r>
            <a:endParaRPr sz="900" b="1">
              <a:solidFill>
                <a:srgbClr val="C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327075" y="2995871"/>
            <a:ext cx="4116600" cy="476100"/>
          </a:xfrm>
          <a:prstGeom prst="roundRect">
            <a:avLst>
              <a:gd name="adj" fmla="val 2083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Выполнение исследования</a:t>
            </a:r>
            <a:b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Сверка полученного результата с результатом первичного определения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645525" y="2988658"/>
            <a:ext cx="4063500" cy="476100"/>
          </a:xfrm>
          <a:prstGeom prst="roundRect">
            <a:avLst>
              <a:gd name="adj" fmla="val 20835"/>
            </a:avLst>
          </a:prstGeom>
          <a:solidFill>
            <a:srgbClr val="FFDCD6"/>
          </a:solidFill>
          <a:ln w="9525" cap="flat" cmpd="sng">
            <a:solidFill>
              <a:srgbClr val="CC41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Забраковать б/м с формулировкой “нет данных первичного определения группы крови” </a:t>
            </a:r>
            <a:endParaRPr sz="900">
              <a:solidFill>
                <a:schemeClr val="dk1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502150" y="2719878"/>
            <a:ext cx="819600" cy="123300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есть данные</a:t>
            </a:r>
            <a:endParaRPr sz="800">
              <a:solidFill>
                <a:srgbClr val="3876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746525" y="2719878"/>
            <a:ext cx="819600" cy="123300"/>
          </a:xfrm>
          <a:prstGeom prst="roundRect">
            <a:avLst>
              <a:gd name="adj" fmla="val 50000"/>
            </a:avLst>
          </a:prstGeom>
          <a:solidFill>
            <a:srgbClr val="FFDCD6"/>
          </a:solidFill>
          <a:ln w="9525" cap="flat" cmpd="sng">
            <a:solidFill>
              <a:srgbClr val="CC41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CC412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нет данных</a:t>
            </a:r>
            <a:endParaRPr sz="800">
              <a:solidFill>
                <a:srgbClr val="CC412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25688" y="3534726"/>
            <a:ext cx="819600" cy="123300"/>
          </a:xfrm>
          <a:prstGeom prst="roundRect">
            <a:avLst>
              <a:gd name="adj" fmla="val 50000"/>
            </a:avLst>
          </a:prstGeom>
          <a:solidFill>
            <a:srgbClr val="D9EAD3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38761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совпадает</a:t>
            </a:r>
            <a:endParaRPr sz="800">
              <a:solidFill>
                <a:srgbClr val="38761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3882425" y="3532239"/>
            <a:ext cx="819600" cy="123300"/>
          </a:xfrm>
          <a:prstGeom prst="roundRect">
            <a:avLst>
              <a:gd name="adj" fmla="val 50000"/>
            </a:avLst>
          </a:prstGeom>
          <a:solidFill>
            <a:srgbClr val="FFDCD6"/>
          </a:solidFill>
          <a:ln w="9525" cap="flat" cmpd="sng">
            <a:solidFill>
              <a:srgbClr val="CC41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CC412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 совпадает</a:t>
            </a:r>
            <a:endParaRPr sz="800">
              <a:solidFill>
                <a:srgbClr val="CC412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-1600737" y="1581167"/>
            <a:ext cx="583500" cy="58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01" name="Google Shape;201;p18"/>
          <p:cNvCxnSpPr>
            <a:stCxn id="186" idx="3"/>
          </p:cNvCxnSpPr>
          <p:nvPr/>
        </p:nvCxnSpPr>
        <p:spPr>
          <a:xfrm rot="10800000" flipH="1">
            <a:off x="5890000" y="4363375"/>
            <a:ext cx="192000" cy="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18"/>
          <p:cNvCxnSpPr/>
          <p:nvPr/>
        </p:nvCxnSpPr>
        <p:spPr>
          <a:xfrm>
            <a:off x="2245500" y="3484246"/>
            <a:ext cx="6000" cy="34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" name="Google Shape;203;p18"/>
          <p:cNvSpPr/>
          <p:nvPr/>
        </p:nvSpPr>
        <p:spPr>
          <a:xfrm>
            <a:off x="2349050" y="3506200"/>
            <a:ext cx="1121400" cy="267000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 w="9525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E6913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есть особенность результата</a:t>
            </a:r>
            <a:endParaRPr sz="800">
              <a:solidFill>
                <a:srgbClr val="E6913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1842400" y="3839200"/>
            <a:ext cx="1591500" cy="890400"/>
          </a:xfrm>
          <a:prstGeom prst="roundRect">
            <a:avLst>
              <a:gd name="adj" fmla="val 15650"/>
            </a:avLst>
          </a:prstGeom>
          <a:solidFill>
            <a:srgbClr val="FFF2CC"/>
          </a:solidFill>
          <a:ln w="9525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800">
                <a:solidFill>
                  <a:srgbClr val="E6913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Результат отличается по причине клинически значимых факторов (ослабленные антигены, интерференция и т.п.). </a:t>
            </a:r>
            <a:r>
              <a:rPr lang="ru" sz="1100">
                <a:solidFill>
                  <a:schemeClr val="dk1"/>
                </a:solidFill>
              </a:rPr>
              <a:t> </a:t>
            </a:r>
            <a:r>
              <a:rPr lang="ru"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5" name="Google Shape;205;p18"/>
          <p:cNvCxnSpPr>
            <a:stCxn id="204" idx="1"/>
            <a:endCxn id="185" idx="3"/>
          </p:cNvCxnSpPr>
          <p:nvPr/>
        </p:nvCxnSpPr>
        <p:spPr>
          <a:xfrm rot="10800000">
            <a:off x="1447000" y="4284400"/>
            <a:ext cx="39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Экран (16:9)</PresentationFormat>
  <Paragraphs>67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6" baseType="lpstr">
      <vt:lpstr>Montserrat SemiBold</vt:lpstr>
      <vt:lpstr>Montserrat ExtraBold</vt:lpstr>
      <vt:lpstr>Roboto Medium</vt:lpstr>
      <vt:lpstr>Montserrat Black</vt:lpstr>
      <vt:lpstr>Arial</vt:lpstr>
      <vt:lpstr>Montserrat</vt:lpstr>
      <vt:lpstr>Calibri</vt:lpstr>
      <vt:lpstr>Montserrat Medium</vt:lpstr>
      <vt:lpstr>Roboto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HomePC</cp:lastModifiedBy>
  <cp:revision>1</cp:revision>
  <dcterms:modified xsi:type="dcterms:W3CDTF">2026-08-13T06:15:52Z</dcterms:modified>
</cp:coreProperties>
</file>